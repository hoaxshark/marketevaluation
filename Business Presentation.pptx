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8721" autoAdjust="0"/>
  </p:normalViewPr>
  <p:slideViewPr>
    <p:cSldViewPr snapToGrid="0">
      <p:cViewPr varScale="1">
        <p:scale>
          <a:sx n="90" d="100"/>
          <a:sy n="90" d="100"/>
        </p:scale>
        <p:origin x="13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3A2962-9660-41C5-9054-E2F363C37083}" type="datetimeFigureOut">
              <a:rPr lang="en-GB" smtClean="0"/>
              <a:t>11/03/2019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232E02-0700-4753-8DBD-B1B244F2AE57}" type="slidenum">
              <a:rPr lang="en-GB" smtClean="0"/>
              <a:t>‹#›</a:t>
            </a:fld>
            <a:endParaRPr lang="en-GB"/>
          </a:p>
        </p:txBody>
      </p:sp>
    </p:spTree>
    <p:extLst>
      <p:ext uri="{BB962C8B-B14F-4D97-AF65-F5344CB8AC3E}">
        <p14:creationId xmlns:p14="http://schemas.microsoft.com/office/powerpoint/2010/main" val="29664775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We’ve been lucky enough to have a publisher approach</a:t>
            </a:r>
            <a:r>
              <a:rPr lang="en-GB" baseline="0" dirty="0" smtClean="0"/>
              <a:t> us and offer a business deal, because of that I’ve had a look into the how our future may look if we take or leave the deal.</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1</a:t>
            </a:fld>
            <a:endParaRPr lang="en-GB"/>
          </a:p>
        </p:txBody>
      </p:sp>
    </p:spTree>
    <p:extLst>
      <p:ext uri="{BB962C8B-B14F-4D97-AF65-F5344CB8AC3E}">
        <p14:creationId xmlns:p14="http://schemas.microsoft.com/office/powerpoint/2010/main" val="18391421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If we continue down the route of self publishing</a:t>
            </a:r>
            <a:r>
              <a:rPr lang="en-GB" baseline="0" dirty="0" smtClean="0"/>
              <a:t> we will expect to: </a:t>
            </a:r>
          </a:p>
          <a:p>
            <a:r>
              <a:rPr lang="en-GB" baseline="0" dirty="0" smtClean="0"/>
              <a:t>keep on working remotely to save money</a:t>
            </a:r>
          </a:p>
          <a:p>
            <a:r>
              <a:rPr lang="en-GB" baseline="0" dirty="0" smtClean="0"/>
              <a:t>It will take us another 6 months to finish the development as already planned</a:t>
            </a:r>
          </a:p>
          <a:p>
            <a:r>
              <a:rPr lang="en-GB" baseline="0" dirty="0" smtClean="0"/>
              <a:t>Expect to reach approximately 10k sales via itch.io only, selling at a minimum net profit per sale for £5</a:t>
            </a:r>
          </a:p>
          <a:p>
            <a:r>
              <a:rPr lang="en-GB" baseline="0" dirty="0" smtClean="0"/>
              <a:t>This is the minimum we would be willing to take, so there is scope to sell for a higher price if viable.</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2</a:t>
            </a:fld>
            <a:endParaRPr lang="en-GB"/>
          </a:p>
        </p:txBody>
      </p:sp>
    </p:spTree>
    <p:extLst>
      <p:ext uri="{BB962C8B-B14F-4D97-AF65-F5344CB8AC3E}">
        <p14:creationId xmlns:p14="http://schemas.microsoft.com/office/powerpoint/2010/main" val="11800530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publisher is offering us an</a:t>
            </a:r>
            <a:r>
              <a:rPr lang="en-GB" baseline="0" dirty="0" smtClean="0"/>
              <a:t> initial investment of 150k, 100k of this being for the running of the business, such as salary for the staff and office space. The other 50k is listed as a marketing budget.</a:t>
            </a:r>
          </a:p>
          <a:p>
            <a:r>
              <a:rPr lang="en-GB" baseline="0" dirty="0" smtClean="0"/>
              <a:t>With the help of the marketing budget and selling via steam, the publisher is estimating that we can sell between 30-50k units at a price of £15 per unit. Once the investment is repaid there will be a 50/50 revenue split, at which point we will be making £5 per unit sold.</a:t>
            </a:r>
          </a:p>
          <a:p>
            <a:r>
              <a:rPr lang="en-GB" baseline="0" dirty="0" smtClean="0"/>
              <a:t>If we manage to reach 40k sales within the first month the publisher will fund another 6 months for the game to be ported to consoles, and another marketing investment of 150k will be allotted</a:t>
            </a:r>
          </a:p>
          <a:p>
            <a:r>
              <a:rPr lang="en-GB" baseline="0" dirty="0" smtClean="0"/>
              <a:t>If we take the deal the publisher will have first refusal rights for future projects that use the same IP</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3</a:t>
            </a:fld>
            <a:endParaRPr lang="en-GB"/>
          </a:p>
        </p:txBody>
      </p:sp>
    </p:spTree>
    <p:extLst>
      <p:ext uri="{BB962C8B-B14F-4D97-AF65-F5344CB8AC3E}">
        <p14:creationId xmlns:p14="http://schemas.microsoft.com/office/powerpoint/2010/main" val="19313037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After projecting the finances</a:t>
            </a:r>
            <a:r>
              <a:rPr lang="en-GB" baseline="0" dirty="0" smtClean="0"/>
              <a:t> for our current self publishing route we have a few possible outcomes.</a:t>
            </a:r>
          </a:p>
          <a:p>
            <a:r>
              <a:rPr lang="en-GB" baseline="0" dirty="0" smtClean="0"/>
              <a:t>These assume that we continue to work remotely, and don’t take an income from the company while developing.</a:t>
            </a:r>
          </a:p>
          <a:p>
            <a:r>
              <a:rPr lang="en-GB" baseline="0" dirty="0" smtClean="0"/>
              <a:t>We have estimated 10k sales via itch.io only, and with the agreed minimum net profit of £5 per sale we will expect to bring in 50k overall. </a:t>
            </a:r>
          </a:p>
          <a:p>
            <a:r>
              <a:rPr lang="en-GB" baseline="0" dirty="0" smtClean="0"/>
              <a:t>At this point we can split the money throughout the team making us £7150 each.</a:t>
            </a:r>
          </a:p>
          <a:p>
            <a:r>
              <a:rPr lang="en-GB" baseline="0" dirty="0" smtClean="0"/>
              <a:t>If however we sell the game at the same price the publisher has planned to sell the game for we will be making </a:t>
            </a:r>
            <a:r>
              <a:rPr lang="en-GB" sz="1200" dirty="0" smtClean="0"/>
              <a:t>100k</a:t>
            </a:r>
            <a:r>
              <a:rPr lang="en-GB" baseline="0" dirty="0" smtClean="0"/>
              <a:t>, </a:t>
            </a:r>
            <a:r>
              <a:rPr lang="en-GB" baseline="0" dirty="0" smtClean="0"/>
              <a:t>that being split gets everyone </a:t>
            </a:r>
            <a:r>
              <a:rPr lang="en-GB" baseline="0" dirty="0" smtClean="0"/>
              <a:t>£</a:t>
            </a:r>
            <a:r>
              <a:rPr lang="en-GB" sz="1200" dirty="0" smtClean="0"/>
              <a:t>14285</a:t>
            </a:r>
            <a:r>
              <a:rPr lang="en-GB" baseline="0" dirty="0" smtClean="0"/>
              <a:t>.</a:t>
            </a:r>
            <a:endParaRPr lang="en-GB" baseline="0" dirty="0" smtClean="0"/>
          </a:p>
          <a:p>
            <a:r>
              <a:rPr lang="en-GB" baseline="0" dirty="0" smtClean="0"/>
              <a:t>This is more than we will make ourselves by taking the publisher deal, but it leaves the company itself with nothing, and I think it’s overly optimistic to expect decent sales at that price without any marketing budget.</a:t>
            </a:r>
          </a:p>
          <a:p>
            <a:r>
              <a:rPr lang="en-GB" baseline="0" dirty="0" smtClean="0"/>
              <a:t>The alternate route via self publishing is to not take the money and leave it in the company, by doing this we will be able to fund our own marketing budget for the next project, this could allow us to make a large amount of money on future projects by not needed to split the income with a publisher. However it would require us to continue to work without income for another project, is a fairly risky strategy and claiming benefits while making money for the company is an ethical choice I would rather avoid.</a:t>
            </a:r>
          </a:p>
        </p:txBody>
      </p:sp>
      <p:sp>
        <p:nvSpPr>
          <p:cNvPr id="4" name="Slide Number Placeholder 3"/>
          <p:cNvSpPr>
            <a:spLocks noGrp="1"/>
          </p:cNvSpPr>
          <p:nvPr>
            <p:ph type="sldNum" sz="quarter" idx="10"/>
          </p:nvPr>
        </p:nvSpPr>
        <p:spPr/>
        <p:txBody>
          <a:bodyPr/>
          <a:lstStyle/>
          <a:p>
            <a:fld id="{64232E02-0700-4753-8DBD-B1B244F2AE57}" type="slidenum">
              <a:rPr lang="en-GB" smtClean="0"/>
              <a:t>4</a:t>
            </a:fld>
            <a:endParaRPr lang="en-GB"/>
          </a:p>
        </p:txBody>
      </p:sp>
    </p:spTree>
    <p:extLst>
      <p:ext uri="{BB962C8B-B14F-4D97-AF65-F5344CB8AC3E}">
        <p14:creationId xmlns:p14="http://schemas.microsoft.com/office/powerpoint/2010/main" val="1401287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Taking the publisher deal will allow us to market the game and</a:t>
            </a:r>
            <a:r>
              <a:rPr lang="en-GB" baseline="0" dirty="0" smtClean="0"/>
              <a:t> sell via steam giving us estimated sales between 30-50k units. This large increase although cut with steam and the publisher will bring in more money than self publishing.</a:t>
            </a:r>
          </a:p>
          <a:p>
            <a:r>
              <a:rPr lang="en-GB" baseline="0" dirty="0" smtClean="0"/>
              <a:t>A major beneficial factor will also be that everyone will be able to start getting paid monthly at £2000 each and we will be able to afford office space so team cohesion should be nicer.</a:t>
            </a:r>
          </a:p>
          <a:p>
            <a:r>
              <a:rPr lang="en-GB" baseline="0" dirty="0" smtClean="0"/>
              <a:t>With everyone getting paid and us not relying purely on sales to fund ourselves the risk factor for the company is significantly lower than self publishing.</a:t>
            </a:r>
          </a:p>
          <a:p>
            <a:r>
              <a:rPr lang="en-GB" baseline="0" dirty="0" smtClean="0"/>
              <a:t>If we only sell at the minimum end of the estimate the company will have </a:t>
            </a:r>
            <a:r>
              <a:rPr lang="en-GB" baseline="0" dirty="0" smtClean="0"/>
              <a:t>24k</a:t>
            </a:r>
            <a:r>
              <a:rPr lang="en-GB" baseline="0" dirty="0" smtClean="0"/>
              <a:t>.</a:t>
            </a:r>
          </a:p>
          <a:p>
            <a:r>
              <a:rPr lang="en-GB" baseline="0" dirty="0" smtClean="0"/>
              <a:t>Alternatively if we reach the top end at 50k sales we can expect the company to make a profit of </a:t>
            </a:r>
            <a:r>
              <a:rPr lang="en-GB" baseline="0" dirty="0" smtClean="0"/>
              <a:t>~100k </a:t>
            </a:r>
            <a:r>
              <a:rPr lang="en-GB" baseline="0" dirty="0" smtClean="0"/>
              <a:t>and trigger the console ports that will net us an additional </a:t>
            </a:r>
            <a:r>
              <a:rPr lang="en-GB" baseline="0" dirty="0" smtClean="0"/>
              <a:t>20k</a:t>
            </a:r>
            <a:r>
              <a:rPr lang="en-GB" baseline="0" dirty="0" smtClean="0"/>
              <a:t>. </a:t>
            </a:r>
          </a:p>
          <a:p>
            <a:r>
              <a:rPr lang="en-GB" baseline="0" dirty="0" smtClean="0"/>
              <a:t>It’s important to note that these profits are for the company since we are already being paid a salary the extra profits can be used for the company to fund more work later down the line.</a:t>
            </a:r>
          </a:p>
          <a:p>
            <a:r>
              <a:rPr lang="en-GB" baseline="0" dirty="0" smtClean="0"/>
              <a:t>With a much more stable income it will be possible to safely work on future projects, and while working on the console ports we can look at </a:t>
            </a:r>
            <a:r>
              <a:rPr lang="en-GB" baseline="0" dirty="0" smtClean="0"/>
              <a:t>outsourcing </a:t>
            </a:r>
            <a:r>
              <a:rPr lang="en-GB" baseline="0" dirty="0" smtClean="0"/>
              <a:t>our team members that are not needed for the port to fund their salary and keep them on the team.</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5</a:t>
            </a:fld>
            <a:endParaRPr lang="en-GB"/>
          </a:p>
        </p:txBody>
      </p:sp>
    </p:spTree>
    <p:extLst>
      <p:ext uri="{BB962C8B-B14F-4D97-AF65-F5344CB8AC3E}">
        <p14:creationId xmlns:p14="http://schemas.microsoft.com/office/powerpoint/2010/main" val="11594303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So to conclude this presentation I have decided that it</a:t>
            </a:r>
            <a:r>
              <a:rPr lang="en-GB" baseline="0" dirty="0" smtClean="0"/>
              <a:t> is a better choice for us to take the publisher deal.</a:t>
            </a:r>
          </a:p>
          <a:p>
            <a:r>
              <a:rPr lang="en-GB" baseline="0" dirty="0" smtClean="0"/>
              <a:t>This is because of the lower risk for the company and its staff.</a:t>
            </a:r>
          </a:p>
          <a:p>
            <a:r>
              <a:rPr lang="en-GB" baseline="0" dirty="0" smtClean="0"/>
              <a:t>We get paid no matter what happens and that’s a much better life style than the one we will live while self publishing</a:t>
            </a:r>
          </a:p>
          <a:p>
            <a:r>
              <a:rPr lang="en-GB" baseline="0" dirty="0" smtClean="0"/>
              <a:t>We are able to get some office space and work together daily hopefully driving a better end project towards market</a:t>
            </a:r>
          </a:p>
          <a:p>
            <a:r>
              <a:rPr lang="en-GB" baseline="0" dirty="0" smtClean="0"/>
              <a:t>We stand in a good place to make better profits for the company itself without our staff having to live a detrimental life style</a:t>
            </a:r>
          </a:p>
          <a:p>
            <a:r>
              <a:rPr lang="en-GB" baseline="0" dirty="0" smtClean="0"/>
              <a:t>We get a wider market reach via steam and the possible console releases helping us build our brand and create awareness of the company</a:t>
            </a:r>
          </a:p>
          <a:p>
            <a:r>
              <a:rPr lang="en-GB" baseline="0" dirty="0" smtClean="0"/>
              <a:t>It will be easier for the company to continue to run and create new projects</a:t>
            </a:r>
          </a:p>
          <a:p>
            <a:r>
              <a:rPr lang="en-GB" baseline="0" dirty="0" smtClean="0"/>
              <a:t>Assuming we reach good sales </a:t>
            </a:r>
            <a:r>
              <a:rPr lang="en-GB" baseline="0" smtClean="0"/>
              <a:t>we will be </a:t>
            </a:r>
            <a:r>
              <a:rPr lang="en-GB" baseline="0" dirty="0" smtClean="0"/>
              <a:t>in good standing with a publisher opening additional opportunities in the future</a:t>
            </a:r>
            <a:endParaRPr lang="en-GB" dirty="0"/>
          </a:p>
        </p:txBody>
      </p:sp>
      <p:sp>
        <p:nvSpPr>
          <p:cNvPr id="4" name="Slide Number Placeholder 3"/>
          <p:cNvSpPr>
            <a:spLocks noGrp="1"/>
          </p:cNvSpPr>
          <p:nvPr>
            <p:ph type="sldNum" sz="quarter" idx="10"/>
          </p:nvPr>
        </p:nvSpPr>
        <p:spPr/>
        <p:txBody>
          <a:bodyPr/>
          <a:lstStyle/>
          <a:p>
            <a:fld id="{64232E02-0700-4753-8DBD-B1B244F2AE57}" type="slidenum">
              <a:rPr lang="en-GB" smtClean="0"/>
              <a:t>6</a:t>
            </a:fld>
            <a:endParaRPr lang="en-GB"/>
          </a:p>
        </p:txBody>
      </p:sp>
    </p:spTree>
    <p:extLst>
      <p:ext uri="{BB962C8B-B14F-4D97-AF65-F5344CB8AC3E}">
        <p14:creationId xmlns:p14="http://schemas.microsoft.com/office/powerpoint/2010/main" val="35284404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6664DAC3-EA40-4371-98C6-B5FFAA610E0F}" type="datetimeFigureOut">
              <a:rPr lang="en-GB" smtClean="0"/>
              <a:t>11/03/2019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4071333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6664DAC3-EA40-4371-98C6-B5FFAA610E0F}" type="datetimeFigureOut">
              <a:rPr lang="en-GB" smtClean="0"/>
              <a:t>11/03/2019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6904775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664DAC3-EA40-4371-98C6-B5FFAA610E0F}" type="datetimeFigureOut">
              <a:rPr lang="en-GB" smtClean="0"/>
              <a:t>11/03/2019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990533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6664DAC3-EA40-4371-98C6-B5FFAA610E0F}" type="datetimeFigureOut">
              <a:rPr lang="en-GB" smtClean="0"/>
              <a:t>11/03/2019</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281794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6664DAC3-EA40-4371-98C6-B5FFAA610E0F}" type="datetimeFigureOut">
              <a:rPr lang="en-GB" smtClean="0"/>
              <a:t>11/03/2019</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4249477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6664DAC3-EA40-4371-98C6-B5FFAA610E0F}" type="datetimeFigureOut">
              <a:rPr lang="en-GB" smtClean="0"/>
              <a:t>11/03/2019</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37633097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664DAC3-EA40-4371-98C6-B5FFAA610E0F}" type="datetimeFigureOut">
              <a:rPr lang="en-GB" smtClean="0"/>
              <a:t>11/03/2019</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17725233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664DAC3-EA40-4371-98C6-B5FFAA610E0F}" type="datetimeFigureOut">
              <a:rPr lang="en-GB" smtClean="0"/>
              <a:t>11/03/2019</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3861800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664DAC3-EA40-4371-98C6-B5FFAA610E0F}" type="datetimeFigureOut">
              <a:rPr lang="en-GB" smtClean="0"/>
              <a:t>11/03/2019</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2298059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6664DAC3-EA40-4371-98C6-B5FFAA610E0F}" type="datetimeFigureOut">
              <a:rPr lang="en-GB" smtClean="0"/>
              <a:t>11/03/2019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42659629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6664DAC3-EA40-4371-98C6-B5FFAA610E0F}" type="datetimeFigureOut">
              <a:rPr lang="en-GB" smtClean="0"/>
              <a:t>11/03/2019</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CC64CF5-464F-42A0-9AB6-D0A46FD3EBE0}" type="slidenum">
              <a:rPr lang="en-GB" smtClean="0"/>
              <a:t>‹#›</a:t>
            </a:fld>
            <a:endParaRPr lang="en-GB"/>
          </a:p>
        </p:txBody>
      </p:sp>
    </p:spTree>
    <p:extLst>
      <p:ext uri="{BB962C8B-B14F-4D97-AF65-F5344CB8AC3E}">
        <p14:creationId xmlns:p14="http://schemas.microsoft.com/office/powerpoint/2010/main" val="26950865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64DAC3-EA40-4371-98C6-B5FFAA610E0F}" type="datetimeFigureOut">
              <a:rPr lang="en-GB" smtClean="0"/>
              <a:t>11/03/2019</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C64CF5-464F-42A0-9AB6-D0A46FD3EBE0}" type="slidenum">
              <a:rPr lang="en-GB" smtClean="0"/>
              <a:t>‹#›</a:t>
            </a:fld>
            <a:endParaRPr lang="en-GB"/>
          </a:p>
        </p:txBody>
      </p:sp>
    </p:spTree>
    <p:extLst>
      <p:ext uri="{BB962C8B-B14F-4D97-AF65-F5344CB8AC3E}">
        <p14:creationId xmlns:p14="http://schemas.microsoft.com/office/powerpoint/2010/main" val="16612355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ctrTitle"/>
          </p:nvPr>
        </p:nvSpPr>
        <p:spPr/>
        <p:txBody>
          <a:bodyPr>
            <a:normAutofit/>
          </a:bodyPr>
          <a:lstStyle/>
          <a:p>
            <a:r>
              <a:rPr lang="en-GB" sz="9600" dirty="0" smtClean="0">
                <a:latin typeface="Impact" panose="020B0806030902050204" pitchFamily="34" charset="0"/>
              </a:rPr>
              <a:t>INKD</a:t>
            </a:r>
            <a:endParaRPr lang="en-GB" sz="9600" dirty="0">
              <a:latin typeface="Impact" panose="020B0806030902050204" pitchFamily="34" charset="0"/>
            </a:endParaRPr>
          </a:p>
        </p:txBody>
      </p:sp>
      <p:sp>
        <p:nvSpPr>
          <p:cNvPr id="3" name="Subtitle 2"/>
          <p:cNvSpPr>
            <a:spLocks noGrp="1"/>
          </p:cNvSpPr>
          <p:nvPr>
            <p:ph type="subTitle" idx="1"/>
          </p:nvPr>
        </p:nvSpPr>
        <p:spPr/>
        <p:txBody>
          <a:bodyPr/>
          <a:lstStyle/>
          <a:p>
            <a:r>
              <a:rPr lang="en-GB" dirty="0" smtClean="0"/>
              <a:t>Business Proposals</a:t>
            </a:r>
            <a:endParaRPr lang="en-GB" dirty="0"/>
          </a:p>
        </p:txBody>
      </p:sp>
      <p:pic>
        <p:nvPicPr>
          <p:cNvPr id="5" name="Picture 4"/>
          <p:cNvPicPr>
            <a:picLocks noChangeAspect="1"/>
          </p:cNvPicPr>
          <p:nvPr/>
        </p:nvPicPr>
        <p:blipFill>
          <a:blip r:embed="rId4" cstate="print">
            <a:extLst>
              <a:ext uri="{BEBA8EAE-BF5A-486C-A8C5-ECC9F3942E4B}">
                <a14:imgProps xmlns:a14="http://schemas.microsoft.com/office/drawing/2010/main">
                  <a14:imgLayer r:embed="rId5">
                    <a14:imgEffect>
                      <a14:brightnessContrast bright="-40000" contrast="40000"/>
                    </a14:imgEffect>
                  </a14:imgLayer>
                </a14:imgProps>
              </a:ext>
              <a:ext uri="{28A0092B-C50C-407E-A947-70E740481C1C}">
                <a14:useLocalDpi xmlns:a14="http://schemas.microsoft.com/office/drawing/2010/main" val="0"/>
              </a:ext>
            </a:extLst>
          </a:blip>
          <a:stretch>
            <a:fillRect/>
          </a:stretch>
        </p:blipFill>
        <p:spPr>
          <a:xfrm rot="19437392">
            <a:off x="438543" y="4455250"/>
            <a:ext cx="2219012" cy="2219012"/>
          </a:xfrm>
          <a:prstGeom prst="rect">
            <a:avLst/>
          </a:prstGeom>
        </p:spPr>
      </p:pic>
      <p:pic>
        <p:nvPicPr>
          <p:cNvPr id="6" name="Picture 5"/>
          <p:cNvPicPr>
            <a:picLocks noChangeAspect="1"/>
          </p:cNvPicPr>
          <p:nvPr/>
        </p:nvPicPr>
        <p:blipFill>
          <a:blip r:embed="rId6" cstate="print">
            <a:extLst>
              <a:ext uri="{BEBA8EAE-BF5A-486C-A8C5-ECC9F3942E4B}">
                <a14:imgProps xmlns:a14="http://schemas.microsoft.com/office/drawing/2010/main">
                  <a14:imgLayer r:embed="rId5">
                    <a14:imgEffect>
                      <a14:brightnessContrast bright="-40000" contrast="40000"/>
                    </a14:imgEffect>
                  </a14:imgLayer>
                </a14:imgProps>
              </a:ext>
              <a:ext uri="{28A0092B-C50C-407E-A947-70E740481C1C}">
                <a14:useLocalDpi xmlns:a14="http://schemas.microsoft.com/office/drawing/2010/main" val="0"/>
              </a:ext>
            </a:extLst>
          </a:blip>
          <a:stretch>
            <a:fillRect/>
          </a:stretch>
        </p:blipFill>
        <p:spPr>
          <a:xfrm rot="19437392">
            <a:off x="10172950" y="144966"/>
            <a:ext cx="1584704" cy="1584704"/>
          </a:xfrm>
          <a:prstGeom prst="rect">
            <a:avLst/>
          </a:prstGeom>
        </p:spPr>
      </p:pic>
    </p:spTree>
    <p:extLst>
      <p:ext uri="{BB962C8B-B14F-4D97-AF65-F5344CB8AC3E}">
        <p14:creationId xmlns:p14="http://schemas.microsoft.com/office/powerpoint/2010/main" val="340403103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Self Publishing Proposition</a:t>
            </a:r>
            <a:endParaRPr lang="en-GB" dirty="0">
              <a:latin typeface="Impact" panose="020B0806030902050204" pitchFamily="34" charset="0"/>
            </a:endParaRPr>
          </a:p>
        </p:txBody>
      </p:sp>
      <p:sp>
        <p:nvSpPr>
          <p:cNvPr id="3" name="Content Placeholder 2"/>
          <p:cNvSpPr>
            <a:spLocks noGrp="1"/>
          </p:cNvSpPr>
          <p:nvPr>
            <p:ph idx="1"/>
          </p:nvPr>
        </p:nvSpPr>
        <p:spPr/>
        <p:txBody>
          <a:bodyPr>
            <a:normAutofit/>
          </a:bodyPr>
          <a:lstStyle/>
          <a:p>
            <a:r>
              <a:rPr lang="en-GB" sz="3000" dirty="0" smtClean="0"/>
              <a:t>Continue to work remotely</a:t>
            </a:r>
          </a:p>
          <a:p>
            <a:r>
              <a:rPr lang="en-GB" sz="3000" dirty="0" smtClean="0"/>
              <a:t>6 Months to finish development </a:t>
            </a:r>
          </a:p>
          <a:p>
            <a:r>
              <a:rPr lang="en-GB" sz="3000" dirty="0" smtClean="0"/>
              <a:t>Estimate 10k sales via itch.io</a:t>
            </a:r>
          </a:p>
          <a:p>
            <a:r>
              <a:rPr lang="en-GB" sz="3000" dirty="0" smtClean="0"/>
              <a:t>Min net from sale £5</a:t>
            </a:r>
            <a:endParaRPr lang="en-GB" sz="3000" dirty="0"/>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342610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Publisher Proposition</a:t>
            </a:r>
            <a:endParaRPr lang="en-GB" dirty="0">
              <a:latin typeface="Impact" panose="020B0806030902050204" pitchFamily="34" charset="0"/>
            </a:endParaRPr>
          </a:p>
        </p:txBody>
      </p:sp>
      <p:sp>
        <p:nvSpPr>
          <p:cNvPr id="3" name="Content Placeholder 2"/>
          <p:cNvSpPr>
            <a:spLocks noGrp="1"/>
          </p:cNvSpPr>
          <p:nvPr>
            <p:ph idx="1"/>
          </p:nvPr>
        </p:nvSpPr>
        <p:spPr/>
        <p:txBody>
          <a:bodyPr>
            <a:normAutofit/>
          </a:bodyPr>
          <a:lstStyle/>
          <a:p>
            <a:r>
              <a:rPr lang="en-GB" sz="3000" dirty="0" smtClean="0"/>
              <a:t>150k investment</a:t>
            </a:r>
          </a:p>
          <a:p>
            <a:r>
              <a:rPr lang="en-GB" sz="3000" dirty="0"/>
              <a:t>Sales via steam </a:t>
            </a:r>
            <a:endParaRPr lang="en-GB" sz="3000" dirty="0" smtClean="0"/>
          </a:p>
          <a:p>
            <a:r>
              <a:rPr lang="en-GB" sz="3000" dirty="0" smtClean="0"/>
              <a:t>30-50k estimated sales</a:t>
            </a:r>
          </a:p>
          <a:p>
            <a:r>
              <a:rPr lang="en-GB" sz="3000" dirty="0" smtClean="0"/>
              <a:t>50/50 Rev split after investment recoup</a:t>
            </a:r>
          </a:p>
          <a:p>
            <a:r>
              <a:rPr lang="en-GB" sz="3000" dirty="0" smtClean="0"/>
              <a:t>Possible console port at 40k sales</a:t>
            </a:r>
          </a:p>
          <a:p>
            <a:r>
              <a:rPr lang="en-GB" sz="3000" dirty="0" smtClean="0"/>
              <a:t>First refusal for future projects with IP</a:t>
            </a:r>
          </a:p>
          <a:p>
            <a:endParaRPr lang="en-GB" sz="3000" dirty="0" smtClean="0"/>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484869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Self Publishing Finances</a:t>
            </a:r>
            <a:endParaRPr lang="en-GB" dirty="0">
              <a:latin typeface="Impact" panose="020B0806030902050204" pitchFamily="34" charset="0"/>
            </a:endParaRPr>
          </a:p>
        </p:txBody>
      </p:sp>
      <p:sp>
        <p:nvSpPr>
          <p:cNvPr id="3" name="Content Placeholder 2"/>
          <p:cNvSpPr>
            <a:spLocks noGrp="1"/>
          </p:cNvSpPr>
          <p:nvPr>
            <p:ph idx="1"/>
          </p:nvPr>
        </p:nvSpPr>
        <p:spPr/>
        <p:txBody>
          <a:bodyPr>
            <a:normAutofit/>
          </a:bodyPr>
          <a:lstStyle/>
          <a:p>
            <a:r>
              <a:rPr lang="en-GB" sz="3000" dirty="0" smtClean="0"/>
              <a:t>Estimating 10k sales via itch.io</a:t>
            </a:r>
          </a:p>
          <a:p>
            <a:r>
              <a:rPr lang="en-GB" sz="3000" dirty="0" smtClean="0"/>
              <a:t>£5 net brings in £50k</a:t>
            </a:r>
          </a:p>
          <a:p>
            <a:r>
              <a:rPr lang="en-GB" sz="3000" dirty="0" smtClean="0"/>
              <a:t>£7150 </a:t>
            </a:r>
            <a:r>
              <a:rPr lang="en-GB" sz="3000" dirty="0" smtClean="0"/>
              <a:t>each</a:t>
            </a:r>
            <a:endParaRPr lang="en-GB" sz="3000" dirty="0"/>
          </a:p>
          <a:p>
            <a:r>
              <a:rPr lang="en-GB" sz="3000" dirty="0" smtClean="0"/>
              <a:t>£</a:t>
            </a:r>
            <a:r>
              <a:rPr lang="en-GB" sz="3000" dirty="0" smtClean="0"/>
              <a:t>10 </a:t>
            </a:r>
            <a:r>
              <a:rPr lang="en-GB" sz="3000" dirty="0" smtClean="0"/>
              <a:t>net brings in £</a:t>
            </a:r>
            <a:r>
              <a:rPr lang="en-GB" sz="3000" dirty="0" smtClean="0"/>
              <a:t>100k</a:t>
            </a:r>
            <a:endParaRPr lang="en-GB" sz="3000" dirty="0"/>
          </a:p>
          <a:p>
            <a:r>
              <a:rPr lang="en-GB" sz="3000" dirty="0" smtClean="0"/>
              <a:t>£</a:t>
            </a:r>
            <a:r>
              <a:rPr lang="en-GB" sz="3000" dirty="0" smtClean="0"/>
              <a:t>14285</a:t>
            </a:r>
            <a:r>
              <a:rPr lang="en-GB" sz="3000" dirty="0" smtClean="0"/>
              <a:t> </a:t>
            </a:r>
            <a:r>
              <a:rPr lang="en-GB" sz="3000" dirty="0" smtClean="0"/>
              <a:t>each</a:t>
            </a:r>
            <a:endParaRPr lang="en-GB" sz="3000" dirty="0"/>
          </a:p>
          <a:p>
            <a:r>
              <a:rPr lang="en-GB" sz="3000" dirty="0" smtClean="0"/>
              <a:t>Nothing in company coffers</a:t>
            </a:r>
          </a:p>
          <a:p>
            <a:endParaRPr lang="en-GB" sz="3000" dirty="0" smtClean="0"/>
          </a:p>
          <a:p>
            <a:r>
              <a:rPr lang="en-GB" sz="3000" dirty="0" smtClean="0"/>
              <a:t>OR We fund the company</a:t>
            </a:r>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2492694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Publisher Finances</a:t>
            </a:r>
            <a:endParaRPr lang="en-GB" dirty="0">
              <a:latin typeface="Impact" panose="020B0806030902050204" pitchFamily="34" charset="0"/>
            </a:endParaRPr>
          </a:p>
        </p:txBody>
      </p:sp>
      <p:sp>
        <p:nvSpPr>
          <p:cNvPr id="3" name="Content Placeholder 2"/>
          <p:cNvSpPr>
            <a:spLocks noGrp="1"/>
          </p:cNvSpPr>
          <p:nvPr>
            <p:ph idx="1"/>
          </p:nvPr>
        </p:nvSpPr>
        <p:spPr>
          <a:xfrm>
            <a:off x="838200" y="1690688"/>
            <a:ext cx="10515600" cy="4351338"/>
          </a:xfrm>
        </p:spPr>
        <p:txBody>
          <a:bodyPr>
            <a:noAutofit/>
          </a:bodyPr>
          <a:lstStyle/>
          <a:p>
            <a:r>
              <a:rPr lang="en-GB" sz="3000" dirty="0" smtClean="0"/>
              <a:t>Estimated 30k-50k sales</a:t>
            </a:r>
          </a:p>
          <a:p>
            <a:r>
              <a:rPr lang="en-GB" sz="3000" dirty="0" smtClean="0"/>
              <a:t>Everyone gets paid</a:t>
            </a:r>
          </a:p>
          <a:p>
            <a:r>
              <a:rPr lang="en-GB" sz="3000" dirty="0" smtClean="0"/>
              <a:t>Low risk for the company</a:t>
            </a:r>
          </a:p>
          <a:p>
            <a:r>
              <a:rPr lang="en-GB" sz="3000" dirty="0" smtClean="0"/>
              <a:t>Min end sales - </a:t>
            </a:r>
            <a:r>
              <a:rPr lang="en-GB" sz="3000" dirty="0" smtClean="0"/>
              <a:t>£</a:t>
            </a:r>
            <a:r>
              <a:rPr lang="en-GB" sz="3000" dirty="0" smtClean="0"/>
              <a:t>24</a:t>
            </a:r>
            <a:r>
              <a:rPr lang="en-GB" sz="3000" dirty="0" smtClean="0"/>
              <a:t>k</a:t>
            </a:r>
            <a:endParaRPr lang="en-GB" sz="3000" dirty="0" smtClean="0"/>
          </a:p>
          <a:p>
            <a:r>
              <a:rPr lang="en-GB" sz="3000" dirty="0" smtClean="0"/>
              <a:t>Max end sales - £</a:t>
            </a:r>
            <a:r>
              <a:rPr lang="en-GB" sz="3000" dirty="0" smtClean="0"/>
              <a:t>100k</a:t>
            </a:r>
            <a:endParaRPr lang="en-GB" sz="3000" dirty="0" smtClean="0"/>
          </a:p>
          <a:p>
            <a:r>
              <a:rPr lang="en-GB" sz="3000" dirty="0" smtClean="0"/>
              <a:t>Console ports generate - </a:t>
            </a:r>
            <a:r>
              <a:rPr lang="en-GB" sz="3000" dirty="0" smtClean="0"/>
              <a:t>£</a:t>
            </a:r>
            <a:r>
              <a:rPr lang="en-GB" sz="3000" dirty="0" smtClean="0"/>
              <a:t>20</a:t>
            </a:r>
            <a:r>
              <a:rPr lang="en-GB" sz="3000" dirty="0" smtClean="0"/>
              <a:t>k</a:t>
            </a:r>
            <a:endParaRPr lang="en-GB" sz="3000" dirty="0" smtClean="0"/>
          </a:p>
          <a:p>
            <a:r>
              <a:rPr lang="en-GB" sz="3000" dirty="0" smtClean="0"/>
              <a:t>These are company profits even after pay</a:t>
            </a:r>
          </a:p>
          <a:p>
            <a:r>
              <a:rPr lang="en-GB" sz="3000" dirty="0" smtClean="0"/>
              <a:t>Able to fund new project</a:t>
            </a:r>
          </a:p>
          <a:p>
            <a:r>
              <a:rPr lang="en-GB" sz="3000" dirty="0" smtClean="0"/>
              <a:t>Outsource to keep on staff</a:t>
            </a:r>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2318801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898" y="0"/>
            <a:ext cx="12192000" cy="6858000"/>
          </a:xfrm>
          <a:prstGeom prst="rect">
            <a:avLst/>
          </a:prstGeom>
        </p:spPr>
      </p:pic>
      <p:sp>
        <p:nvSpPr>
          <p:cNvPr id="2" name="Title 1"/>
          <p:cNvSpPr>
            <a:spLocks noGrp="1"/>
          </p:cNvSpPr>
          <p:nvPr>
            <p:ph type="title"/>
          </p:nvPr>
        </p:nvSpPr>
        <p:spPr/>
        <p:txBody>
          <a:bodyPr/>
          <a:lstStyle/>
          <a:p>
            <a:r>
              <a:rPr lang="en-GB" dirty="0" smtClean="0">
                <a:latin typeface="Impact" panose="020B0806030902050204" pitchFamily="34" charset="0"/>
              </a:rPr>
              <a:t>The Choice</a:t>
            </a:r>
            <a:endParaRPr lang="en-GB" dirty="0">
              <a:latin typeface="Impact" panose="020B0806030902050204" pitchFamily="34" charset="0"/>
            </a:endParaRPr>
          </a:p>
        </p:txBody>
      </p:sp>
      <p:sp>
        <p:nvSpPr>
          <p:cNvPr id="3" name="Content Placeholder 2"/>
          <p:cNvSpPr>
            <a:spLocks noGrp="1"/>
          </p:cNvSpPr>
          <p:nvPr>
            <p:ph idx="1"/>
          </p:nvPr>
        </p:nvSpPr>
        <p:spPr/>
        <p:txBody>
          <a:bodyPr/>
          <a:lstStyle/>
          <a:p>
            <a:r>
              <a:rPr lang="en-GB" sz="3000" dirty="0" smtClean="0"/>
              <a:t>Lower Risk</a:t>
            </a:r>
          </a:p>
          <a:p>
            <a:r>
              <a:rPr lang="en-GB" sz="3000" dirty="0" smtClean="0"/>
              <a:t>People get paid</a:t>
            </a:r>
          </a:p>
          <a:p>
            <a:r>
              <a:rPr lang="en-GB" sz="3000" dirty="0" smtClean="0"/>
              <a:t>Offices</a:t>
            </a:r>
          </a:p>
          <a:p>
            <a:r>
              <a:rPr lang="en-GB" sz="3000" dirty="0" smtClean="0"/>
              <a:t>Good chance at higher profit</a:t>
            </a:r>
          </a:p>
          <a:p>
            <a:r>
              <a:rPr lang="en-GB" sz="3000" dirty="0" smtClean="0"/>
              <a:t>Wider market reach</a:t>
            </a:r>
          </a:p>
          <a:p>
            <a:r>
              <a:rPr lang="en-GB" sz="3000" dirty="0" smtClean="0"/>
              <a:t>Easier for the company to continue</a:t>
            </a:r>
          </a:p>
          <a:p>
            <a:r>
              <a:rPr lang="en-GB" sz="3000" dirty="0" smtClean="0"/>
              <a:t>Good standing with publisher</a:t>
            </a:r>
          </a:p>
          <a:p>
            <a:endParaRPr lang="en-GB" dirty="0"/>
          </a:p>
        </p:txBody>
      </p:sp>
      <p:pic>
        <p:nvPicPr>
          <p:cNvPr id="5" name="Picture 4"/>
          <p:cNvPicPr>
            <a:picLocks noChangeAspect="1"/>
          </p:cNvPicPr>
          <p:nvPr/>
        </p:nvPicPr>
        <p:blipFill rotWithShape="1">
          <a:blip r:embed="rId4" cstate="print">
            <a:extLst>
              <a:ext uri="{28A0092B-C50C-407E-A947-70E740481C1C}">
                <a14:useLocalDpi xmlns:a14="http://schemas.microsoft.com/office/drawing/2010/main" val="0"/>
              </a:ext>
            </a:extLst>
          </a:blip>
          <a:srcRect l="34290" t="30182" r="32033" b="39515"/>
          <a:stretch/>
        </p:blipFill>
        <p:spPr>
          <a:xfrm>
            <a:off x="9711407" y="5126842"/>
            <a:ext cx="2721379" cy="1731158"/>
          </a:xfrm>
          <a:prstGeom prst="rect">
            <a:avLst/>
          </a:prstGeom>
          <a:scene3d>
            <a:camera prst="orthographicFront">
              <a:rot lat="0" lon="10799978" rev="0"/>
            </a:camera>
            <a:lightRig rig="threePt" dir="t"/>
          </a:scene3d>
        </p:spPr>
      </p:pic>
    </p:spTree>
    <p:extLst>
      <p:ext uri="{BB962C8B-B14F-4D97-AF65-F5344CB8AC3E}">
        <p14:creationId xmlns:p14="http://schemas.microsoft.com/office/powerpoint/2010/main" val="1713174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261</TotalTime>
  <Words>1111</Words>
  <Application>Microsoft Office PowerPoint</Application>
  <PresentationFormat>Widescreen</PresentationFormat>
  <Paragraphs>79</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Impact</vt:lpstr>
      <vt:lpstr>Office Theme</vt:lpstr>
      <vt:lpstr>INKD</vt:lpstr>
      <vt:lpstr>Self Publishing Proposition</vt:lpstr>
      <vt:lpstr>Publisher Proposition</vt:lpstr>
      <vt:lpstr>Self Publishing Finances</vt:lpstr>
      <vt:lpstr>Publisher Finances</vt:lpstr>
      <vt:lpstr>The Choice</vt:lpstr>
    </vt:vector>
  </TitlesOfParts>
  <Company>FXPlus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INKD</dc:title>
  <dc:creator>RYAN CLARKE</dc:creator>
  <cp:lastModifiedBy>RYAN CLARKE</cp:lastModifiedBy>
  <cp:revision>15</cp:revision>
  <dcterms:created xsi:type="dcterms:W3CDTF">2019-03-07T14:42:41Z</dcterms:created>
  <dcterms:modified xsi:type="dcterms:W3CDTF">2019-03-11T11:31:19Z</dcterms:modified>
</cp:coreProperties>
</file>